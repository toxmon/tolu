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011680"/>
            <a:ext cx="914400" cy="45720"/>
          </a:xfrm>
          <a:prstGeom prst="rect">
            <a:avLst/>
          </a:prstGeom>
          <a:solidFill>
            <a:srgbClr val="EB1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0000"/>
                </a:solidFill>
                <a:latin typeface="Johnson Display"/>
              </a:defRPr>
            </a:pPr>
            <a:r>
              <a:t>TierPulse: Tier 1–3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B1700"/>
                </a:solidFill>
                <a:latin typeface="Johnson Display"/>
              </a:defRPr>
            </a:pPr>
            <a:r>
              <a:t>Performance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233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E6159"/>
                </a:solidFill>
                <a:latin typeface="Johnson Text"/>
              </a:defRPr>
            </a:pPr>
            <a:r>
              <a:t>Data Operating Theory → governed metric capture, structured escalation, and Tier 3 roll-up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39992"/>
                </a:solidFill>
                <a:latin typeface="Johnson Text"/>
              </a:defRPr>
            </a:pPr>
            <a:r>
              <a:t>J&amp;J Innovative Medicine — LVV Raritan | TierPulse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39992"/>
                </a:solidFill>
                <a:latin typeface="Johnson Display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B1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Johnson Display"/>
              </a:defRPr>
            </a:pPr>
            <a:r>
              <a:t>Situation: Before TierPulse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E6159"/>
                </a:solidFill>
                <a:latin typeface="Johnson Text"/>
              </a:rPr>
              <a:t>│ Performance management was fragmented — no Tier 1, inconsistent Tier 2, and zero standardized Tier 3 leadership visibility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B1700"/>
                </a:solidFill>
                <a:latin typeface="Johnson Text"/>
              </a:rPr>
              <a:t>▸ </a:t>
            </a:r>
            <a:r>
              <a:rPr sz="1300" b="1">
                <a:solidFill>
                  <a:srgbClr val="000000"/>
                </a:solidFill>
                <a:latin typeface="Johnson Text"/>
              </a:rPr>
              <a:t>Tier 1 did not exist</a:t>
            </a:r>
            <a:r>
              <a:rPr sz="1300">
                <a:solidFill>
                  <a:srgbClr val="000000"/>
                </a:solidFill>
                <a:latin typeface="Johnson Text"/>
              </a:rPr>
              <a:t> — no daily operational pulse at the shop floor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EB1700"/>
                </a:solidFill>
                <a:latin typeface="Johnson Text"/>
              </a:rPr>
              <a:t>▸ </a:t>
            </a:r>
            <a:r>
              <a:rPr sz="1300">
                <a:solidFill>
                  <a:srgbClr val="000000"/>
                </a:solidFill>
                <a:latin typeface="Johnson Text"/>
              </a:rPr>
              <a:t>Tier 2 dashboards existed in silos — no unified escalation or action tracking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EB1700"/>
                </a:solidFill>
                <a:latin typeface="Johnson Text"/>
              </a:rPr>
              <a:t>▸ </a:t>
            </a:r>
            <a:r>
              <a:rPr sz="1300">
                <a:solidFill>
                  <a:srgbClr val="000000"/>
                </a:solidFill>
                <a:latin typeface="Johnson Text"/>
              </a:rPr>
              <a:t>Escalations lacked consistent owner, due date, and status capture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EB1700"/>
                </a:solidFill>
                <a:latin typeface="Johnson Text"/>
              </a:rPr>
              <a:t>▸ </a:t>
            </a:r>
            <a:r>
              <a:rPr sz="1300">
                <a:solidFill>
                  <a:srgbClr val="000000"/>
                </a:solidFill>
                <a:latin typeface="Johnson Text"/>
              </a:rPr>
              <a:t>No standardized Tier 3 leadership view across LVV sites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EB1700"/>
                </a:solidFill>
                <a:latin typeface="Johnson Text"/>
              </a:rPr>
              <a:t>▸ </a:t>
            </a:r>
            <a:r>
              <a:rPr sz="1300">
                <a:solidFill>
                  <a:srgbClr val="000000"/>
                </a:solidFill>
                <a:latin typeface="Johnson Text"/>
              </a:rPr>
              <a:t>Manual data pulls, no governed metric definitions, no auditability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5303520"/>
            <a:ext cx="9144000" cy="731520"/>
          </a:xfrm>
          <a:prstGeom prst="rect">
            <a:avLst/>
          </a:prstGeom>
          <a:solidFill>
            <a:srgbClr val="F1E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5303520"/>
            <a:ext cx="36576" cy="731520"/>
          </a:xfrm>
          <a:prstGeom prst="rect">
            <a:avLst/>
          </a:prstGeom>
          <a:solidFill>
            <a:srgbClr val="C4BD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394960"/>
            <a:ext cx="8869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0000"/>
                </a:solidFill>
                <a:latin typeface="Johnson Text"/>
              </a:rPr>
              <a:t>Design intent: </a:t>
            </a:r>
            <a:r>
              <a:rPr sz="1100">
                <a:solidFill>
                  <a:srgbClr val="6E6159"/>
                </a:solidFill>
                <a:latin typeface="Johnson Text"/>
              </a:rPr>
              <a:t>Real-time operational pulse + structured escalation + transferable roll-up. Not dashboards for dashboards' sake — decision infrastructure.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39992"/>
                </a:solidFill>
                <a:latin typeface="Johnson Display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39992"/>
                </a:solidFill>
                <a:latin typeface="Johnson Text"/>
              </a:rPr>
              <a:t>J&amp;J Innovative Medicine — LVV Raritan | TierPulse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B1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Johnson Display"/>
              </a:defRPr>
            </a:pPr>
            <a:r>
              <a:t>Conceptual Alignment: SQDCP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E6159"/>
                </a:solidFill>
                <a:latin typeface="Johnson Text"/>
              </a:rPr>
              <a:t>│ Every metric at every tier maps to one of five performance pillars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920240" cy="3474720"/>
          </a:xfrm>
          <a:prstGeom prst="rect">
            <a:avLst/>
          </a:prstGeom>
          <a:solidFill>
            <a:srgbClr val="F1E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6576" cy="3474720"/>
          </a:xfrm>
          <a:prstGeom prst="rect">
            <a:avLst/>
          </a:prstGeom>
          <a:solidFill>
            <a:srgbClr val="EB1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B1700"/>
                </a:solidFill>
                <a:latin typeface="Johnson Display"/>
              </a:defRPr>
            </a:pPr>
            <a:r>
              <a:t>SAFETY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16459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>
                <a:solidFill>
                  <a:srgbClr val="EB1700"/>
                </a:solidFill>
                <a:latin typeface="Johnson Text"/>
              </a:rPr>
              <a:t>– </a:t>
            </a:r>
            <a:r>
              <a:rPr sz="900">
                <a:solidFill>
                  <a:srgbClr val="000000"/>
                </a:solidFill>
                <a:latin typeface="Johnson Text"/>
              </a:rPr>
              <a:t>Operator safety</a:t>
            </a:r>
          </a:p>
          <a:p>
            <a:pPr algn="l">
              <a:spcAft>
                <a:spcPts val="600"/>
              </a:spcAft>
            </a:pPr>
            <a:r>
              <a:rPr sz="900" b="1">
                <a:solidFill>
                  <a:srgbClr val="EB1700"/>
                </a:solidFill>
                <a:latin typeface="Johnson Text"/>
              </a:rPr>
              <a:t>– </a:t>
            </a:r>
            <a:r>
              <a:rPr sz="900">
                <a:solidFill>
                  <a:srgbClr val="000000"/>
                </a:solidFill>
                <a:latin typeface="Johnson Text"/>
              </a:rPr>
              <a:t>Data integrity risk</a:t>
            </a:r>
          </a:p>
          <a:p>
            <a:pPr algn="l">
              <a:spcAft>
                <a:spcPts val="600"/>
              </a:spcAft>
            </a:pPr>
            <a:r>
              <a:rPr sz="900" b="1">
                <a:solidFill>
                  <a:srgbClr val="EB1700"/>
                </a:solidFill>
                <a:latin typeface="Johnson Text"/>
              </a:rPr>
              <a:t>– </a:t>
            </a:r>
            <a:r>
              <a:rPr sz="900">
                <a:solidFill>
                  <a:srgbClr val="000000"/>
                </a:solidFill>
                <a:latin typeface="Johnson Text"/>
              </a:rPr>
              <a:t>Compliance risk</a:t>
            </a:r>
          </a:p>
          <a:p>
            <a:pPr algn="l">
              <a:spcAft>
                <a:spcPts val="600"/>
              </a:spcAft>
            </a:pPr>
            <a:r>
              <a:rPr sz="900" b="1">
                <a:solidFill>
                  <a:srgbClr val="EB1700"/>
                </a:solidFill>
                <a:latin typeface="Johnson Text"/>
              </a:rPr>
              <a:t>– </a:t>
            </a:r>
            <a:r>
              <a:rPr sz="900">
                <a:solidFill>
                  <a:srgbClr val="000000"/>
                </a:solidFill>
                <a:latin typeface="Johnson Text"/>
              </a:rPr>
              <a:t>Error prevention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1828800"/>
            <a:ext cx="1920240" cy="3474720"/>
          </a:xfrm>
          <a:prstGeom prst="rect">
            <a:avLst/>
          </a:prstGeom>
          <a:solidFill>
            <a:srgbClr val="F1E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34640" y="1828800"/>
            <a:ext cx="36576" cy="3474720"/>
          </a:xfrm>
          <a:prstGeom prst="rect">
            <a:avLst/>
          </a:prstGeom>
          <a:solidFill>
            <a:srgbClr val="EB1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19202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B1700"/>
                </a:solidFill>
                <a:latin typeface="Johnson Display"/>
              </a:defRPr>
            </a:pPr>
            <a:r>
              <a:t>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2194560"/>
            <a:ext cx="16459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>
                <a:solidFill>
                  <a:srgbClr val="EB1700"/>
                </a:solidFill>
                <a:latin typeface="Johnson Text"/>
              </a:rPr>
              <a:t>– </a:t>
            </a:r>
            <a:r>
              <a:rPr sz="900">
                <a:solidFill>
                  <a:srgbClr val="000000"/>
                </a:solidFill>
                <a:latin typeface="Johnson Text"/>
              </a:rPr>
              <a:t>Product quality</a:t>
            </a:r>
          </a:p>
          <a:p>
            <a:pPr algn="l">
              <a:spcAft>
                <a:spcPts val="600"/>
              </a:spcAft>
            </a:pPr>
            <a:r>
              <a:rPr sz="900" b="1">
                <a:solidFill>
                  <a:srgbClr val="EB1700"/>
                </a:solidFill>
                <a:latin typeface="Johnson Text"/>
              </a:rPr>
              <a:t>– </a:t>
            </a:r>
            <a:r>
              <a:rPr sz="900">
                <a:solidFill>
                  <a:srgbClr val="000000"/>
                </a:solidFill>
                <a:latin typeface="Johnson Text"/>
              </a:rPr>
              <a:t>Data accuracy</a:t>
            </a:r>
          </a:p>
          <a:p>
            <a:pPr algn="l">
              <a:spcAft>
                <a:spcPts val="600"/>
              </a:spcAft>
            </a:pPr>
            <a:r>
              <a:rPr sz="900" b="1">
                <a:solidFill>
                  <a:srgbClr val="EB1700"/>
                </a:solidFill>
                <a:latin typeface="Johnson Text"/>
              </a:rPr>
              <a:t>– </a:t>
            </a:r>
            <a:r>
              <a:rPr sz="900">
                <a:solidFill>
                  <a:srgbClr val="000000"/>
                </a:solidFill>
                <a:latin typeface="Johnson Text"/>
              </a:rPr>
              <a:t>Right-first-time performance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0" y="1828800"/>
            <a:ext cx="1920240" cy="3474720"/>
          </a:xfrm>
          <a:prstGeom prst="rect">
            <a:avLst/>
          </a:prstGeom>
          <a:solidFill>
            <a:srgbClr val="F1E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37760" y="1828800"/>
            <a:ext cx="36576" cy="3474720"/>
          </a:xfrm>
          <a:prstGeom prst="rect">
            <a:avLst/>
          </a:prstGeom>
          <a:solidFill>
            <a:srgbClr val="EB1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4920" y="19202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B1700"/>
                </a:solidFill>
                <a:latin typeface="Johnson Display"/>
              </a:defRPr>
            </a:pPr>
            <a:r>
              <a:t>DELIVERY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2194560"/>
            <a:ext cx="16459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>
                <a:solidFill>
                  <a:srgbClr val="EB1700"/>
                </a:solidFill>
                <a:latin typeface="Johnson Text"/>
              </a:rPr>
              <a:t>– </a:t>
            </a:r>
            <a:r>
              <a:rPr sz="900">
                <a:solidFill>
                  <a:srgbClr val="000000"/>
                </a:solidFill>
                <a:latin typeface="Johnson Text"/>
              </a:rPr>
              <a:t>Cycle time</a:t>
            </a:r>
          </a:p>
          <a:p>
            <a:pPr algn="l">
              <a:spcAft>
                <a:spcPts val="600"/>
              </a:spcAft>
            </a:pPr>
            <a:r>
              <a:rPr sz="900" b="1">
                <a:solidFill>
                  <a:srgbClr val="EB1700"/>
                </a:solidFill>
                <a:latin typeface="Johnson Text"/>
              </a:rPr>
              <a:t>– </a:t>
            </a:r>
            <a:r>
              <a:rPr sz="900">
                <a:solidFill>
                  <a:srgbClr val="000000"/>
                </a:solidFill>
                <a:latin typeface="Johnson Text"/>
              </a:rPr>
              <a:t>Flow and throughput</a:t>
            </a:r>
          </a:p>
          <a:p>
            <a:pPr algn="l">
              <a:spcAft>
                <a:spcPts val="600"/>
              </a:spcAft>
            </a:pPr>
            <a:r>
              <a:rPr sz="900" b="1">
                <a:solidFill>
                  <a:srgbClr val="EB1700"/>
                </a:solidFill>
                <a:latin typeface="Johnson Text"/>
              </a:rPr>
              <a:t>– </a:t>
            </a:r>
            <a:r>
              <a:rPr sz="900">
                <a:solidFill>
                  <a:srgbClr val="000000"/>
                </a:solidFill>
                <a:latin typeface="Johnson Text"/>
              </a:rPr>
              <a:t>Schedule adherence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880" y="1828800"/>
            <a:ext cx="1920240" cy="3474720"/>
          </a:xfrm>
          <a:prstGeom prst="rect">
            <a:avLst/>
          </a:prstGeom>
          <a:solidFill>
            <a:srgbClr val="F1E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0880" y="1828800"/>
            <a:ext cx="36576" cy="3474720"/>
          </a:xfrm>
          <a:prstGeom prst="rect">
            <a:avLst/>
          </a:prstGeom>
          <a:solidFill>
            <a:srgbClr val="EB1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78040" y="19202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B1700"/>
                </a:solidFill>
                <a:latin typeface="Johnson Display"/>
              </a:defRPr>
            </a:pPr>
            <a:r>
              <a:t>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2194560"/>
            <a:ext cx="16459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>
                <a:solidFill>
                  <a:srgbClr val="EB1700"/>
                </a:solidFill>
                <a:latin typeface="Johnson Text"/>
              </a:rPr>
              <a:t>– </a:t>
            </a:r>
            <a:r>
              <a:rPr sz="900">
                <a:solidFill>
                  <a:srgbClr val="000000"/>
                </a:solidFill>
                <a:latin typeface="Johnson Text"/>
              </a:rPr>
              <a:t>Resource utilization</a:t>
            </a:r>
          </a:p>
          <a:p>
            <a:pPr algn="l">
              <a:spcAft>
                <a:spcPts val="600"/>
              </a:spcAft>
            </a:pPr>
            <a:r>
              <a:rPr sz="900" b="1">
                <a:solidFill>
                  <a:srgbClr val="EB1700"/>
                </a:solidFill>
                <a:latin typeface="Johnson Text"/>
              </a:rPr>
              <a:t>– </a:t>
            </a:r>
            <a:r>
              <a:rPr sz="900">
                <a:solidFill>
                  <a:srgbClr val="000000"/>
                </a:solidFill>
                <a:latin typeface="Johnson Text"/>
              </a:rPr>
              <a:t>Rework and downtime</a:t>
            </a:r>
          </a:p>
          <a:p>
            <a:pPr algn="l">
              <a:spcAft>
                <a:spcPts val="600"/>
              </a:spcAft>
            </a:pPr>
            <a:r>
              <a:rPr sz="900" b="1">
                <a:solidFill>
                  <a:srgbClr val="EB1700"/>
                </a:solidFill>
                <a:latin typeface="Johnson Text"/>
              </a:rPr>
              <a:t>– </a:t>
            </a:r>
            <a:r>
              <a:rPr sz="900">
                <a:solidFill>
                  <a:srgbClr val="000000"/>
                </a:solidFill>
                <a:latin typeface="Johnson Text"/>
              </a:rPr>
              <a:t>Material waste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1828800"/>
            <a:ext cx="1920240" cy="3474720"/>
          </a:xfrm>
          <a:prstGeom prst="rect">
            <a:avLst/>
          </a:prstGeom>
          <a:solidFill>
            <a:srgbClr val="F1E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1828800"/>
            <a:ext cx="36576" cy="3474720"/>
          </a:xfrm>
          <a:prstGeom prst="rect">
            <a:avLst/>
          </a:prstGeom>
          <a:solidFill>
            <a:srgbClr val="EB1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1160" y="19202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B1700"/>
                </a:solidFill>
                <a:latin typeface="Johnson Display"/>
              </a:defRPr>
            </a:pPr>
            <a:r>
              <a:t>PEOPLE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2194560"/>
            <a:ext cx="16459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>
                <a:solidFill>
                  <a:srgbClr val="EB1700"/>
                </a:solidFill>
                <a:latin typeface="Johnson Text"/>
              </a:rPr>
              <a:t>– </a:t>
            </a:r>
            <a:r>
              <a:rPr sz="900">
                <a:solidFill>
                  <a:srgbClr val="000000"/>
                </a:solidFill>
                <a:latin typeface="Johnson Text"/>
              </a:rPr>
              <a:t>Training completion</a:t>
            </a:r>
          </a:p>
          <a:p>
            <a:pPr algn="l">
              <a:spcAft>
                <a:spcPts val="600"/>
              </a:spcAft>
            </a:pPr>
            <a:r>
              <a:rPr sz="900" b="1">
                <a:solidFill>
                  <a:srgbClr val="EB1700"/>
                </a:solidFill>
                <a:latin typeface="Johnson Text"/>
              </a:rPr>
              <a:t>– </a:t>
            </a:r>
            <a:r>
              <a:rPr sz="900">
                <a:solidFill>
                  <a:srgbClr val="000000"/>
                </a:solidFill>
                <a:latin typeface="Johnson Text"/>
              </a:rPr>
              <a:t>Engagement and adoption</a:t>
            </a:r>
          </a:p>
          <a:p>
            <a:pPr algn="l">
              <a:spcAft>
                <a:spcPts val="600"/>
              </a:spcAft>
            </a:pPr>
            <a:r>
              <a:rPr sz="900" b="1">
                <a:solidFill>
                  <a:srgbClr val="EB1700"/>
                </a:solidFill>
                <a:latin typeface="Johnson Text"/>
              </a:rPr>
              <a:t>– </a:t>
            </a:r>
            <a:r>
              <a:rPr sz="900">
                <a:solidFill>
                  <a:srgbClr val="000000"/>
                </a:solidFill>
                <a:latin typeface="Johnson Text"/>
              </a:rPr>
              <a:t>Retention and usability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77295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39992"/>
                </a:solidFill>
                <a:latin typeface="Johnson Display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39992"/>
                </a:solidFill>
                <a:latin typeface="Johnson Text"/>
              </a:rPr>
              <a:t>J&amp;J Innovative Medicine — LVV Raritan | TierPulse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B1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Johnson Display"/>
              </a:defRPr>
            </a:pPr>
            <a:r>
              <a:t>Objectives: What We Set Out to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E6159"/>
                </a:solidFill>
                <a:latin typeface="Johnson Text"/>
              </a:rPr>
              <a:t>│ A governed, hybrid, transferable performance management system across all three tiers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91440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640080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Johnson Display"/>
                        </a:rPr>
                        <a:t>Principle</a:t>
                      </a:r>
                    </a:p>
                  </a:txBody>
                  <a:tcPr>
                    <a:solidFill>
                      <a:srgbClr val="EB17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Johnson Display"/>
                        </a:rPr>
                        <a:t>Target</a:t>
                      </a:r>
                    </a:p>
                  </a:txBody>
                  <a:tcPr>
                    <a:solidFill>
                      <a:srgbClr val="EB170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  <a:r>
                        <a:rPr sz="1200" b="1">
                          <a:solidFill>
                            <a:srgbClr val="000000"/>
                          </a:solidFill>
                          <a:latin typeface="Johnson Text"/>
                        </a:rPr>
                        <a:t>Hybrid by design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Johnson Text"/>
                        </a:rPr>
                        <a:t>Human confirms attainment; automation supplies evidence + trends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  <a:r>
                        <a:rPr sz="1200" b="1">
                          <a:solidFill>
                            <a:srgbClr val="000000"/>
                          </a:solidFill>
                          <a:latin typeface="Johnson Text"/>
                        </a:rPr>
                        <a:t>Governed</a:t>
                      </a:r>
                    </a:p>
                  </a:txBody>
                  <a:tcPr anchor="ctr">
                    <a:solidFill>
                      <a:srgbClr val="F1EF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Johnson Text"/>
                        </a:rPr>
                        <a:t>Metric catalog + definitions + auditability (who / when / what changed)</a:t>
                      </a:r>
                    </a:p>
                  </a:txBody>
                  <a:tcPr anchor="ctr">
                    <a:solidFill>
                      <a:srgbClr val="F1EFE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  <a:r>
                        <a:rPr sz="1200" b="1">
                          <a:solidFill>
                            <a:srgbClr val="000000"/>
                          </a:solidFill>
                          <a:latin typeface="Johnson Text"/>
                        </a:rPr>
                        <a:t>Transferable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Johnson Text"/>
                        </a:rPr>
                        <a:t>Site configuration layer + standardized Tier 3 roll-up template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  <a:r>
                        <a:rPr sz="1200" b="1">
                          <a:solidFill>
                            <a:srgbClr val="000000"/>
                          </a:solidFill>
                          <a:latin typeface="Johnson Text"/>
                        </a:rPr>
                        <a:t>Escalation-driven</a:t>
                      </a:r>
                    </a:p>
                  </a:txBody>
                  <a:tcPr anchor="ctr">
                    <a:solidFill>
                      <a:srgbClr val="F1EFED"/>
                    </a:solidFill>
                    <a:lnB w="25400" cap="flat" cmpd="sng" algn="ctr">
                      <a:solidFill>
                        <a:srgbClr val="EB17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Johnson Text"/>
                        </a:rPr>
                        <a:t>Structured action log: owner + due date + status at every tier</a:t>
                      </a:r>
                    </a:p>
                  </a:txBody>
                  <a:tcPr anchor="ctr">
                    <a:solidFill>
                      <a:srgbClr val="F1EFED"/>
                    </a:solidFill>
                    <a:lnB w="25400" cap="flat" cmpd="sng" algn="ctr">
                      <a:solidFill>
                        <a:srgbClr val="EB17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277295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39992"/>
                </a:solidFill>
                <a:latin typeface="Johnson Display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39992"/>
                </a:solidFill>
                <a:latin typeface="Johnson Text"/>
              </a:rPr>
              <a:t>J&amp;J Innovative Medicine — LVV Raritan | TierPulse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B1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0000"/>
                </a:solidFill>
                <a:latin typeface="Johnson Display"/>
              </a:defRPr>
            </a:pPr>
            <a:r>
              <a:t>Execution: Analytical Ask by Data Operating Bucket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E6159"/>
                </a:solidFill>
                <a:latin typeface="Johnson Text"/>
              </a:rPr>
              <a:t>│ Six data operating buckets map directly to TierPulse outputs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100584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6400800"/>
              </a:tblGrid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Johnson Display"/>
                        </a:rPr>
                        <a:t>Data Operating Bucket</a:t>
                      </a:r>
                    </a:p>
                  </a:txBody>
                  <a:tcPr>
                    <a:solidFill>
                      <a:srgbClr val="EB17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Johnson Display"/>
                        </a:rPr>
                        <a:t>TierPulse Output</a:t>
                      </a:r>
                    </a:p>
                  </a:txBody>
                  <a:tcPr>
                    <a:solidFill>
                      <a:srgbClr val="EB1700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  <a:r>
                        <a:rPr sz="1200" b="1">
                          <a:solidFill>
                            <a:srgbClr val="000000"/>
                          </a:solidFill>
                          <a:latin typeface="Johnson Text"/>
                        </a:rPr>
                        <a:t>1) Governance &amp; Provenance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Johnson Text"/>
                        </a:rPr>
                        <a:t>Maximize definition clarity: owner, target, frequency, status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  <a:r>
                        <a:rPr sz="1200" b="1">
                          <a:solidFill>
                            <a:srgbClr val="000000"/>
                          </a:solidFill>
                          <a:latin typeface="Johnson Text"/>
                        </a:rPr>
                        <a:t>2) Generation</a:t>
                      </a:r>
                    </a:p>
                  </a:txBody>
                  <a:tcPr anchor="ctr">
                    <a:solidFill>
                      <a:srgbClr val="F1EF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Johnson Text"/>
                        </a:rPr>
                        <a:t>Minimize manual pulls — source COMET / SAP / MES / Curve signals</a:t>
                      </a:r>
                    </a:p>
                  </a:txBody>
                  <a:tcPr anchor="ctr">
                    <a:solidFill>
                      <a:srgbClr val="F1EFED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  <a:r>
                        <a:rPr sz="1200" b="1">
                          <a:solidFill>
                            <a:srgbClr val="000000"/>
                          </a:solidFill>
                          <a:latin typeface="Johnson Text"/>
                        </a:rPr>
                        <a:t>3) Collection &amp; Standardization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Johnson Text"/>
                        </a:rPr>
                        <a:t>Maximize harmonization: canonical metric IDs, SQDCP mapping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  <a:r>
                        <a:rPr sz="1200" b="1">
                          <a:solidFill>
                            <a:srgbClr val="000000"/>
                          </a:solidFill>
                          <a:latin typeface="Johnson Text"/>
                        </a:rPr>
                        <a:t>4) Aggregation &amp; Enrichment</a:t>
                      </a:r>
                    </a:p>
                  </a:txBody>
                  <a:tcPr anchor="ctr">
                    <a:solidFill>
                      <a:srgbClr val="F1EF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Johnson Text"/>
                        </a:rPr>
                        <a:t>Optimize enriched outputs: 6-day &amp; 14-day trends, 7-day windowing</a:t>
                      </a:r>
                    </a:p>
                  </a:txBody>
                  <a:tcPr anchor="ctr">
                    <a:solidFill>
                      <a:srgbClr val="F1EFED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  <a:r>
                        <a:rPr sz="1200" b="1">
                          <a:solidFill>
                            <a:srgbClr val="000000"/>
                          </a:solidFill>
                          <a:latin typeface="Johnson Text"/>
                        </a:rPr>
                        <a:t>5) Analysis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Johnson Text"/>
                        </a:rPr>
                        <a:t>Maximize decision support: persistent red detection, cross-functional flags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882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  <a:r>
                        <a:rPr sz="1200" b="1">
                          <a:solidFill>
                            <a:srgbClr val="000000"/>
                          </a:solidFill>
                          <a:latin typeface="Johnson Text"/>
                        </a:rPr>
                        <a:t>6) Application</a:t>
                      </a:r>
                    </a:p>
                  </a:txBody>
                  <a:tcPr anchor="ctr">
                    <a:solidFill>
                      <a:srgbClr val="F1EFED"/>
                    </a:solidFill>
                    <a:lnB w="25400" cap="flat" cmpd="sng" algn="ctr">
                      <a:solidFill>
                        <a:srgbClr val="EB17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Johnson Text"/>
                        </a:rPr>
                        <a:t>Optimize tier-ready views: Tier 1 board, Tier 2 trends, Tier 3 roll-up</a:t>
                      </a:r>
                    </a:p>
                  </a:txBody>
                  <a:tcPr anchor="ctr">
                    <a:solidFill>
                      <a:srgbClr val="F1EFED"/>
                    </a:solidFill>
                    <a:lnB w="25400" cap="flat" cmpd="sng" algn="ctr">
                      <a:solidFill>
                        <a:srgbClr val="EB17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277295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39992"/>
                </a:solidFill>
                <a:latin typeface="Johnson Display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39992"/>
                </a:solidFill>
                <a:latin typeface="Johnson Text"/>
              </a:rPr>
              <a:t>J&amp;J Innovative Medicine — LVV Raritan | TierPulse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B1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Johnson Display"/>
              </a:defRPr>
            </a:pPr>
            <a:r>
              <a:t>Execution: What We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E6159"/>
                </a:solidFill>
                <a:latin typeface="Johnson Text"/>
              </a:rPr>
              <a:t>│ Artifact-driven implementation — tangible outputs at every tier level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3017520" cy="2286000"/>
          </a:xfrm>
          <a:prstGeom prst="rect">
            <a:avLst/>
          </a:prstGeom>
          <a:solidFill>
            <a:srgbClr val="F1E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6576" cy="2286000"/>
          </a:xfrm>
          <a:prstGeom prst="rect">
            <a:avLst/>
          </a:prstGeom>
          <a:solidFill>
            <a:srgbClr val="EB1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B1700"/>
                </a:solidFill>
                <a:latin typeface="Johnson Display"/>
              </a:defRPr>
            </a:pPr>
            <a:r>
              <a:t>TIER 1 — DAILY 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>
                <a:solidFill>
                  <a:srgbClr val="EB1700"/>
                </a:solidFill>
                <a:latin typeface="Johnson Text"/>
              </a:rPr>
              <a:t>– </a:t>
            </a:r>
            <a:r>
              <a:rPr sz="900">
                <a:solidFill>
                  <a:srgbClr val="000000"/>
                </a:solidFill>
                <a:latin typeface="Johnson Text"/>
              </a:rPr>
              <a:t>Shop-floor operational pulse</a:t>
            </a:r>
          </a:p>
          <a:p>
            <a:pPr algn="l">
              <a:spcAft>
                <a:spcPts val="600"/>
              </a:spcAft>
            </a:pPr>
            <a:r>
              <a:rPr sz="900" b="1">
                <a:solidFill>
                  <a:srgbClr val="EB1700"/>
                </a:solidFill>
                <a:latin typeface="Johnson Text"/>
              </a:rPr>
              <a:t>– </a:t>
            </a:r>
            <a:r>
              <a:rPr sz="900">
                <a:solidFill>
                  <a:srgbClr val="000000"/>
                </a:solidFill>
                <a:latin typeface="Johnson Text"/>
              </a:rPr>
              <a:t>SQDCP metric status at a glance</a:t>
            </a:r>
          </a:p>
          <a:p>
            <a:pPr algn="l">
              <a:spcAft>
                <a:spcPts val="600"/>
              </a:spcAft>
            </a:pPr>
            <a:r>
              <a:rPr sz="900" b="1">
                <a:solidFill>
                  <a:srgbClr val="EB1700"/>
                </a:solidFill>
                <a:latin typeface="Johnson Text"/>
              </a:rPr>
              <a:t>– </a:t>
            </a:r>
            <a:r>
              <a:rPr sz="900">
                <a:solidFill>
                  <a:srgbClr val="000000"/>
                </a:solidFill>
                <a:latin typeface="Johnson Text"/>
              </a:rPr>
              <a:t>Owner-assigned escalation capture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1828800"/>
            <a:ext cx="3017520" cy="2286000"/>
          </a:xfrm>
          <a:prstGeom prst="rect">
            <a:avLst/>
          </a:prstGeom>
          <a:solidFill>
            <a:srgbClr val="F1E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31920" y="1828800"/>
            <a:ext cx="36576" cy="2286000"/>
          </a:xfrm>
          <a:prstGeom prst="rect">
            <a:avLst/>
          </a:prstGeom>
          <a:solidFill>
            <a:srgbClr val="EB1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69080" y="1920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B1700"/>
                </a:solidFill>
                <a:latin typeface="Johnson Display"/>
              </a:defRPr>
            </a:pPr>
            <a:r>
              <a:t>TIER 2 — 2X/WEEK 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219456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>
                <a:solidFill>
                  <a:srgbClr val="EB1700"/>
                </a:solidFill>
                <a:latin typeface="Johnson Text"/>
              </a:rPr>
              <a:t>– </a:t>
            </a:r>
            <a:r>
              <a:rPr sz="900">
                <a:solidFill>
                  <a:srgbClr val="000000"/>
                </a:solidFill>
                <a:latin typeface="Johnson Text"/>
              </a:rPr>
              <a:t>Trend-enriched metric views</a:t>
            </a:r>
          </a:p>
          <a:p>
            <a:pPr algn="l">
              <a:spcAft>
                <a:spcPts val="600"/>
              </a:spcAft>
            </a:pPr>
            <a:r>
              <a:rPr sz="900" b="1">
                <a:solidFill>
                  <a:srgbClr val="EB1700"/>
                </a:solidFill>
                <a:latin typeface="Johnson Text"/>
              </a:rPr>
              <a:t>– </a:t>
            </a:r>
            <a:r>
              <a:rPr sz="900">
                <a:solidFill>
                  <a:srgbClr val="000000"/>
                </a:solidFill>
                <a:latin typeface="Johnson Text"/>
              </a:rPr>
              <a:t>6-day and 14-day trend signals</a:t>
            </a:r>
          </a:p>
          <a:p>
            <a:pPr algn="l">
              <a:spcAft>
                <a:spcPts val="600"/>
              </a:spcAft>
            </a:pPr>
            <a:r>
              <a:rPr sz="900" b="1">
                <a:solidFill>
                  <a:srgbClr val="EB1700"/>
                </a:solidFill>
                <a:latin typeface="Johnson Text"/>
              </a:rPr>
              <a:t>– </a:t>
            </a:r>
            <a:r>
              <a:rPr sz="900">
                <a:solidFill>
                  <a:srgbClr val="000000"/>
                </a:solidFill>
                <a:latin typeface="Johnson Text"/>
              </a:rPr>
              <a:t>Cross-functional flagging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1828800"/>
            <a:ext cx="3017520" cy="2286000"/>
          </a:xfrm>
          <a:prstGeom prst="rect">
            <a:avLst/>
          </a:prstGeom>
          <a:solidFill>
            <a:srgbClr val="F1E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0" y="1828800"/>
            <a:ext cx="36576" cy="2286000"/>
          </a:xfrm>
          <a:prstGeom prst="rect">
            <a:avLst/>
          </a:prstGeom>
          <a:solidFill>
            <a:srgbClr val="EB1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80" y="1920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B1700"/>
                </a:solidFill>
                <a:latin typeface="Johnson Display"/>
              </a:defRPr>
            </a:pPr>
            <a:r>
              <a:t>UNIFIED ACTION 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219456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>
                <a:solidFill>
                  <a:srgbClr val="EB1700"/>
                </a:solidFill>
                <a:latin typeface="Johnson Text"/>
              </a:rPr>
              <a:t>– </a:t>
            </a:r>
            <a:r>
              <a:rPr sz="900">
                <a:solidFill>
                  <a:srgbClr val="000000"/>
                </a:solidFill>
                <a:latin typeface="Johnson Text"/>
              </a:rPr>
              <a:t>Owner + due date + status</a:t>
            </a:r>
          </a:p>
          <a:p>
            <a:pPr algn="l">
              <a:spcAft>
                <a:spcPts val="600"/>
              </a:spcAft>
            </a:pPr>
            <a:r>
              <a:rPr sz="900" b="1">
                <a:solidFill>
                  <a:srgbClr val="EB1700"/>
                </a:solidFill>
                <a:latin typeface="Johnson Text"/>
              </a:rPr>
              <a:t>– </a:t>
            </a:r>
            <a:r>
              <a:rPr sz="900">
                <a:solidFill>
                  <a:srgbClr val="000000"/>
                </a:solidFill>
                <a:latin typeface="Johnson Text"/>
              </a:rPr>
              <a:t>Escalation tracking across tiers</a:t>
            </a:r>
          </a:p>
          <a:p>
            <a:pPr algn="l">
              <a:spcAft>
                <a:spcPts val="600"/>
              </a:spcAft>
            </a:pPr>
            <a:r>
              <a:rPr sz="900" b="1">
                <a:solidFill>
                  <a:srgbClr val="EB1700"/>
                </a:solidFill>
                <a:latin typeface="Johnson Text"/>
              </a:rPr>
              <a:t>– </a:t>
            </a:r>
            <a:r>
              <a:rPr sz="900">
                <a:solidFill>
                  <a:srgbClr val="000000"/>
                </a:solidFill>
                <a:latin typeface="Johnson Text"/>
              </a:rPr>
              <a:t>Audit trail for governance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754880"/>
            <a:ext cx="9144000" cy="731520"/>
          </a:xfrm>
          <a:prstGeom prst="rect">
            <a:avLst/>
          </a:prstGeom>
          <a:solidFill>
            <a:srgbClr val="F1E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754880"/>
            <a:ext cx="36576" cy="731520"/>
          </a:xfrm>
          <a:prstGeom prst="rect">
            <a:avLst/>
          </a:prstGeom>
          <a:solidFill>
            <a:srgbClr val="C4BD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846320"/>
            <a:ext cx="8869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0000"/>
                </a:solidFill>
                <a:latin typeface="Johnson Text"/>
              </a:rPr>
              <a:t>Scope: </a:t>
            </a:r>
            <a:r>
              <a:rPr sz="1100">
                <a:solidFill>
                  <a:srgbClr val="6E6159"/>
                </a:solidFill>
                <a:latin typeface="Johnson Text"/>
              </a:rPr>
              <a:t>Current state is descriptive/diagnostic with structured escalation logic. Predictive and prescriptive capabilities are phased after automation maturity.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77295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39992"/>
                </a:solidFill>
                <a:latin typeface="Johnson Display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39992"/>
                </a:solidFill>
                <a:latin typeface="Johnson Text"/>
              </a:rPr>
              <a:t>J&amp;J Innovative Medicine — LVV Raritan | TierPulse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B1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Johnson Display"/>
              </a:defRPr>
            </a:pPr>
            <a:r>
              <a:t>Execution: Data Integrity &amp; Adoption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E6159"/>
                </a:solidFill>
                <a:latin typeface="Johnson Text"/>
              </a:rPr>
              <a:t>│ Guardrails and human-centered design ensure trust and sustained adoption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4572000" cy="2286000"/>
          </a:xfrm>
          <a:prstGeom prst="rect">
            <a:avLst/>
          </a:prstGeom>
          <a:solidFill>
            <a:srgbClr val="F1E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6576" cy="2286000"/>
          </a:xfrm>
          <a:prstGeom prst="rect">
            <a:avLst/>
          </a:prstGeom>
          <a:solidFill>
            <a:srgbClr val="EB1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B1700"/>
                </a:solidFill>
                <a:latin typeface="Johnson Display"/>
              </a:defRPr>
            </a:pPr>
            <a:r>
              <a:t>3ES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4297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>
                <a:solidFill>
                  <a:srgbClr val="EB1700"/>
                </a:solidFill>
                <a:latin typeface="Johnson Text"/>
              </a:rPr>
              <a:t>– </a:t>
            </a:r>
            <a:r>
              <a:rPr sz="900">
                <a:solidFill>
                  <a:srgbClr val="000000"/>
                </a:solidFill>
                <a:latin typeface="Johnson Text"/>
              </a:rPr>
              <a:t>Efficiency — streamlined workflows</a:t>
            </a:r>
          </a:p>
          <a:p>
            <a:pPr algn="l">
              <a:spcAft>
                <a:spcPts val="600"/>
              </a:spcAft>
            </a:pPr>
            <a:r>
              <a:rPr sz="900" b="1">
                <a:solidFill>
                  <a:srgbClr val="EB1700"/>
                </a:solidFill>
                <a:latin typeface="Johnson Text"/>
              </a:rPr>
              <a:t>– </a:t>
            </a:r>
            <a:r>
              <a:rPr sz="900">
                <a:solidFill>
                  <a:srgbClr val="000000"/>
                </a:solidFill>
                <a:latin typeface="Johnson Text"/>
              </a:rPr>
              <a:t>Effectiveness — better decision signals</a:t>
            </a:r>
          </a:p>
          <a:p>
            <a:pPr algn="l">
              <a:spcAft>
                <a:spcPts val="600"/>
              </a:spcAft>
            </a:pPr>
            <a:r>
              <a:rPr sz="900" b="1">
                <a:solidFill>
                  <a:srgbClr val="EB1700"/>
                </a:solidFill>
                <a:latin typeface="Johnson Text"/>
              </a:rPr>
              <a:t>– </a:t>
            </a:r>
            <a:r>
              <a:rPr sz="900">
                <a:solidFill>
                  <a:srgbClr val="000000"/>
                </a:solidFill>
                <a:latin typeface="Johnson Text"/>
              </a:rPr>
              <a:t>Experience — user-impact focus</a:t>
            </a:r>
          </a:p>
        </p:txBody>
      </p:sp>
      <p:sp>
        <p:nvSpPr>
          <p:cNvPr id="9" name="Rectangle 8"/>
          <p:cNvSpPr/>
          <p:nvPr/>
        </p:nvSpPr>
        <p:spPr>
          <a:xfrm>
            <a:off x="5577840" y="1828800"/>
            <a:ext cx="4572000" cy="2286000"/>
          </a:xfrm>
          <a:prstGeom prst="rect">
            <a:avLst/>
          </a:prstGeom>
          <a:solidFill>
            <a:srgbClr val="F1E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577840" y="1828800"/>
            <a:ext cx="36576" cy="2286000"/>
          </a:xfrm>
          <a:prstGeom prst="rect">
            <a:avLst/>
          </a:prstGeom>
          <a:solidFill>
            <a:srgbClr val="EB1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15000" y="19202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B1700"/>
                </a:solidFill>
                <a:latin typeface="Johnson Display"/>
              </a:defRPr>
            </a:pPr>
            <a:r>
              <a:t>DATA INTEGRITY 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2194560"/>
            <a:ext cx="4297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>
                <a:solidFill>
                  <a:srgbClr val="EB1700"/>
                </a:solidFill>
                <a:latin typeface="Johnson Text"/>
              </a:rPr>
              <a:t>– </a:t>
            </a:r>
            <a:r>
              <a:rPr sz="900">
                <a:solidFill>
                  <a:srgbClr val="000000"/>
                </a:solidFill>
                <a:latin typeface="Johnson Text"/>
              </a:rPr>
              <a:t>Missing data guardrails</a:t>
            </a:r>
          </a:p>
          <a:p>
            <a:pPr algn="l">
              <a:spcAft>
                <a:spcPts val="600"/>
              </a:spcAft>
            </a:pPr>
            <a:r>
              <a:rPr sz="900" b="1">
                <a:solidFill>
                  <a:srgbClr val="EB1700"/>
                </a:solidFill>
                <a:latin typeface="Johnson Text"/>
              </a:rPr>
              <a:t>– </a:t>
            </a:r>
            <a:r>
              <a:rPr sz="900">
                <a:solidFill>
                  <a:srgbClr val="000000"/>
                </a:solidFill>
                <a:latin typeface="Johnson Text"/>
              </a:rPr>
              <a:t>Incorrect data detection</a:t>
            </a:r>
          </a:p>
          <a:p>
            <a:pPr algn="l">
              <a:spcAft>
                <a:spcPts val="600"/>
              </a:spcAft>
            </a:pPr>
            <a:r>
              <a:rPr sz="900" b="1">
                <a:solidFill>
                  <a:srgbClr val="EB1700"/>
                </a:solidFill>
                <a:latin typeface="Johnson Text"/>
              </a:rPr>
              <a:t>– </a:t>
            </a:r>
            <a:r>
              <a:rPr sz="900">
                <a:solidFill>
                  <a:srgbClr val="000000"/>
                </a:solidFill>
                <a:latin typeface="Johnson Text"/>
              </a:rPr>
              <a:t>Imprecise / irrelevant filters</a:t>
            </a:r>
          </a:p>
          <a:p>
            <a:pPr algn="l">
              <a:spcAft>
                <a:spcPts val="600"/>
              </a:spcAft>
            </a:pPr>
            <a:r>
              <a:rPr sz="900" b="1">
                <a:solidFill>
                  <a:srgbClr val="EB1700"/>
                </a:solidFill>
                <a:latin typeface="Johnson Text"/>
              </a:rPr>
              <a:t>– </a:t>
            </a:r>
            <a:r>
              <a:rPr sz="900">
                <a:solidFill>
                  <a:srgbClr val="000000"/>
                </a:solidFill>
                <a:latin typeface="Johnson Text"/>
              </a:rPr>
              <a:t>Counterserendipity checks for automation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754880"/>
            <a:ext cx="9144000" cy="731520"/>
          </a:xfrm>
          <a:prstGeom prst="rect">
            <a:avLst/>
          </a:prstGeom>
          <a:solidFill>
            <a:srgbClr val="F1E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754880"/>
            <a:ext cx="36576" cy="731520"/>
          </a:xfrm>
          <a:prstGeom prst="rect">
            <a:avLst/>
          </a:prstGeom>
          <a:solidFill>
            <a:srgbClr val="C4BD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846320"/>
            <a:ext cx="8869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0000"/>
                </a:solidFill>
                <a:latin typeface="Johnson Text"/>
              </a:rPr>
              <a:t>Principle: </a:t>
            </a:r>
            <a:r>
              <a:rPr sz="1100">
                <a:solidFill>
                  <a:srgbClr val="6E6159"/>
                </a:solidFill>
                <a:latin typeface="Johnson Text"/>
              </a:rPr>
              <a:t>TierPulse is designed for behavior-aligned adoption — balancing technical completeness with user experience. Standards prevent negative effects as automation scales.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77295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39992"/>
                </a:solidFill>
                <a:latin typeface="Johnson Display"/>
              </a:rPr>
              <a:t>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39992"/>
                </a:solidFill>
                <a:latin typeface="Johnson Text"/>
              </a:rPr>
              <a:t>J&amp;J Innovative Medicine — LVV Raritan | TierPulse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B1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Johnson Display"/>
              </a:defRPr>
            </a:pPr>
            <a:r>
              <a:t>Verified Results &amp; Early 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E6159"/>
                </a:solidFill>
                <a:latin typeface="Johnson Text"/>
              </a:rPr>
              <a:t>│ Measurable impact from TierPulse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743200" cy="1005840"/>
          </a:xfrm>
          <a:prstGeom prst="rect">
            <a:avLst/>
          </a:prstGeom>
          <a:solidFill>
            <a:srgbClr val="F1E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2743200" cy="45720"/>
          </a:xfrm>
          <a:prstGeom prst="rect">
            <a:avLst/>
          </a:prstGeom>
          <a:solidFill>
            <a:srgbClr val="EB1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B1700"/>
                </a:solidFill>
                <a:latin typeface="Johnson Display"/>
              </a:defRPr>
            </a:pPr>
            <a:r>
              <a:t>83%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159"/>
                </a:solidFill>
                <a:latin typeface="Johnson Text"/>
              </a:defRPr>
            </a:pPr>
            <a:r>
              <a:t>Reduction in report development time</a:t>
            </a:r>
          </a:p>
        </p:txBody>
      </p:sp>
      <p:sp>
        <p:nvSpPr>
          <p:cNvPr id="9" name="Rectangle 8"/>
          <p:cNvSpPr/>
          <p:nvPr/>
        </p:nvSpPr>
        <p:spPr>
          <a:xfrm>
            <a:off x="3749039" y="1828800"/>
            <a:ext cx="2743200" cy="1005840"/>
          </a:xfrm>
          <a:prstGeom prst="rect">
            <a:avLst/>
          </a:prstGeom>
          <a:solidFill>
            <a:srgbClr val="F1E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749039" y="1828800"/>
            <a:ext cx="2743200" cy="45720"/>
          </a:xfrm>
          <a:prstGeom prst="rect">
            <a:avLst/>
          </a:prstGeom>
          <a:solidFill>
            <a:srgbClr val="EB1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86199" y="19659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B1700"/>
                </a:solidFill>
                <a:latin typeface="Johnson Display"/>
              </a:defRPr>
            </a:pPr>
            <a:r>
              <a:t>80→90%+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199" y="2377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159"/>
                </a:solidFill>
                <a:latin typeface="Johnson Text"/>
              </a:defRPr>
            </a:pPr>
            <a:r>
              <a:t>On-time training completion rate improvement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004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B1700"/>
                </a:solidFill>
                <a:latin typeface="Johnson Text"/>
              </a:rPr>
              <a:t>▸ </a:t>
            </a:r>
            <a:r>
              <a:rPr sz="1300">
                <a:solidFill>
                  <a:srgbClr val="000000"/>
                </a:solidFill>
                <a:latin typeface="Johnson Text"/>
              </a:rPr>
              <a:t>Faster overdue non-conformance identification through persistent red detection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EB1700"/>
                </a:solidFill>
                <a:latin typeface="Johnson Text"/>
              </a:rPr>
              <a:t>▸ </a:t>
            </a:r>
            <a:r>
              <a:rPr sz="1300">
                <a:solidFill>
                  <a:srgbClr val="000000"/>
                </a:solidFill>
                <a:latin typeface="Johnson Text"/>
              </a:rPr>
              <a:t>Improved material readiness visibility across production lines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EB1700"/>
                </a:solidFill>
                <a:latin typeface="Johnson Text"/>
              </a:rPr>
              <a:t>▸ </a:t>
            </a:r>
            <a:r>
              <a:rPr sz="1300">
                <a:solidFill>
                  <a:srgbClr val="000000"/>
                </a:solidFill>
                <a:latin typeface="Johnson Text"/>
              </a:rPr>
              <a:t>Consistent tracking and feedback loop sustaining performance gains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EB1700"/>
                </a:solidFill>
                <a:latin typeface="Johnson Text"/>
              </a:rPr>
              <a:t>▸ </a:t>
            </a:r>
            <a:r>
              <a:rPr sz="1300">
                <a:solidFill>
                  <a:srgbClr val="000000"/>
                </a:solidFill>
                <a:latin typeface="Johnson Text"/>
              </a:rPr>
              <a:t>Feedback-driven improvements showing maturity in operating model adoption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39992"/>
                </a:solidFill>
                <a:latin typeface="Johnson Display"/>
              </a:rPr>
              <a:t>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39992"/>
                </a:solidFill>
                <a:latin typeface="Johnson Text"/>
              </a:rPr>
              <a:t>J&amp;J Innovative Medicine — LVV Raritan | TierPulse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B1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Johnson Display"/>
              </a:defRPr>
            </a:pPr>
            <a:r>
              <a:t>Roadmap: Tier 3 &amp; Prescriptive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E6159"/>
                </a:solidFill>
                <a:latin typeface="Johnson Text"/>
              </a:rPr>
              <a:t>│ End-state target — automated, prescriptive Tier 3 roll-up for leadership decision queues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377440" cy="3200400"/>
          </a:xfrm>
          <a:prstGeom prst="rect">
            <a:avLst/>
          </a:prstGeom>
          <a:solidFill>
            <a:srgbClr val="F1E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6576" cy="3200400"/>
          </a:xfrm>
          <a:prstGeom prst="rect">
            <a:avLst/>
          </a:prstGeom>
          <a:solidFill>
            <a:srgbClr val="EB1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B1700"/>
                </a:solidFill>
                <a:latin typeface="Johnson Display"/>
              </a:defRPr>
            </a:pPr>
            <a:r>
              <a:t>HISTORICAL — 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>
                <a:solidFill>
                  <a:srgbClr val="EB1700"/>
                </a:solidFill>
                <a:latin typeface="Johnson Text"/>
              </a:rPr>
              <a:t>– </a:t>
            </a:r>
            <a:r>
              <a:rPr sz="900">
                <a:solidFill>
                  <a:srgbClr val="000000"/>
                </a:solidFill>
                <a:latin typeface="Johnson Text"/>
              </a:rPr>
              <a:t>Map Tier 1–3 process end-to-end</a:t>
            </a:r>
          </a:p>
          <a:p>
            <a:pPr algn="l">
              <a:spcAft>
                <a:spcPts val="600"/>
              </a:spcAft>
            </a:pPr>
            <a:r>
              <a:rPr sz="900" b="1">
                <a:solidFill>
                  <a:srgbClr val="EB1700"/>
                </a:solidFill>
                <a:latin typeface="Johnson Text"/>
              </a:rPr>
              <a:t>– </a:t>
            </a:r>
            <a:r>
              <a:rPr sz="900">
                <a:solidFill>
                  <a:srgbClr val="000000"/>
                </a:solidFill>
                <a:latin typeface="Johnson Text"/>
              </a:rPr>
              <a:t>Extract metric entities and linkages</a:t>
            </a:r>
          </a:p>
          <a:p>
            <a:pPr algn="l">
              <a:spcAft>
                <a:spcPts val="600"/>
              </a:spcAft>
            </a:pPr>
            <a:r>
              <a:rPr sz="900" b="1">
                <a:solidFill>
                  <a:srgbClr val="EB1700"/>
                </a:solidFill>
                <a:latin typeface="Johnson Text"/>
              </a:rPr>
              <a:t>– </a:t>
            </a:r>
            <a:r>
              <a:rPr sz="900">
                <a:solidFill>
                  <a:srgbClr val="000000"/>
                </a:solidFill>
                <a:latin typeface="Johnson Text"/>
              </a:rPr>
              <a:t>Automated concept chain extraction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828800"/>
            <a:ext cx="2377440" cy="3200400"/>
          </a:xfrm>
          <a:prstGeom prst="rect">
            <a:avLst/>
          </a:prstGeom>
          <a:solidFill>
            <a:srgbClr val="F1E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46120" y="1828800"/>
            <a:ext cx="36576" cy="3200400"/>
          </a:xfrm>
          <a:prstGeom prst="rect">
            <a:avLst/>
          </a:prstGeom>
          <a:solidFill>
            <a:srgbClr val="EB1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920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B1700"/>
                </a:solidFill>
                <a:latin typeface="Johnson Display"/>
              </a:defRPr>
            </a:pPr>
            <a:r>
              <a:t>DIAGNOSTIC — QC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19456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>
                <a:solidFill>
                  <a:srgbClr val="EB1700"/>
                </a:solidFill>
                <a:latin typeface="Johnson Text"/>
              </a:rPr>
              <a:t>– </a:t>
            </a:r>
            <a:r>
              <a:rPr sz="900">
                <a:solidFill>
                  <a:srgbClr val="000000"/>
                </a:solidFill>
                <a:latin typeface="Johnson Text"/>
              </a:rPr>
              <a:t>Identify missing/wrong information</a:t>
            </a:r>
          </a:p>
          <a:p>
            <a:pPr algn="l">
              <a:spcAft>
                <a:spcPts val="600"/>
              </a:spcAft>
            </a:pPr>
            <a:r>
              <a:rPr sz="900" b="1">
                <a:solidFill>
                  <a:srgbClr val="EB1700"/>
                </a:solidFill>
                <a:latin typeface="Johnson Text"/>
              </a:rPr>
              <a:t>– </a:t>
            </a:r>
            <a:r>
              <a:rPr sz="900">
                <a:solidFill>
                  <a:srgbClr val="000000"/>
                </a:solidFill>
                <a:latin typeface="Johnson Text"/>
              </a:rPr>
              <a:t>Rate comprehension and accuracy</a:t>
            </a:r>
          </a:p>
          <a:p>
            <a:pPr algn="l">
              <a:spcAft>
                <a:spcPts val="600"/>
              </a:spcAft>
            </a:pPr>
            <a:r>
              <a:rPr sz="900" b="1">
                <a:solidFill>
                  <a:srgbClr val="EB1700"/>
                </a:solidFill>
                <a:latin typeface="Johnson Text"/>
              </a:rPr>
              <a:t>– </a:t>
            </a:r>
            <a:r>
              <a:rPr sz="900">
                <a:solidFill>
                  <a:srgbClr val="000000"/>
                </a:solidFill>
                <a:latin typeface="Johnson Text"/>
              </a:rPr>
              <a:t>Link scores to outcomes and events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828800"/>
            <a:ext cx="2377440" cy="3200400"/>
          </a:xfrm>
          <a:prstGeom prst="rect">
            <a:avLst/>
          </a:prstGeom>
          <a:solidFill>
            <a:srgbClr val="F1E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60720" y="1828800"/>
            <a:ext cx="36576" cy="3200400"/>
          </a:xfrm>
          <a:prstGeom prst="rect">
            <a:avLst/>
          </a:prstGeom>
          <a:solidFill>
            <a:srgbClr val="EB1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1920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B1700"/>
                </a:solidFill>
                <a:latin typeface="Johnson Display"/>
              </a:defRPr>
            </a:pPr>
            <a:r>
              <a:t>PREDICTIVE — AUTOMATION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219456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>
                <a:solidFill>
                  <a:srgbClr val="EB1700"/>
                </a:solidFill>
                <a:latin typeface="Johnson Text"/>
              </a:rPr>
              <a:t>– </a:t>
            </a:r>
            <a:r>
              <a:rPr sz="900">
                <a:solidFill>
                  <a:srgbClr val="000000"/>
                </a:solidFill>
                <a:latin typeface="Johnson Text"/>
              </a:rPr>
              <a:t>Automate metric capture for 80%+ boards</a:t>
            </a:r>
          </a:p>
          <a:p>
            <a:pPr algn="l">
              <a:spcAft>
                <a:spcPts val="600"/>
              </a:spcAft>
            </a:pPr>
            <a:r>
              <a:rPr sz="900" b="1">
                <a:solidFill>
                  <a:srgbClr val="EB1700"/>
                </a:solidFill>
                <a:latin typeface="Johnson Text"/>
              </a:rPr>
              <a:t>– </a:t>
            </a:r>
            <a:r>
              <a:rPr sz="900">
                <a:solidFill>
                  <a:srgbClr val="000000"/>
                </a:solidFill>
                <a:latin typeface="Johnson Text"/>
              </a:rPr>
              <a:t>Signal generation from quality patterns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20" y="1828800"/>
            <a:ext cx="2377440" cy="3200400"/>
          </a:xfrm>
          <a:prstGeom prst="rect">
            <a:avLst/>
          </a:prstGeom>
          <a:solidFill>
            <a:srgbClr val="F1E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75320" y="1828800"/>
            <a:ext cx="36576" cy="3200400"/>
          </a:xfrm>
          <a:prstGeom prst="rect">
            <a:avLst/>
          </a:prstGeom>
          <a:solidFill>
            <a:srgbClr val="EB1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920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B1700"/>
                </a:solidFill>
                <a:latin typeface="Johnson Display"/>
              </a:defRPr>
            </a:pPr>
            <a:r>
              <a:t>PRESCRIPTIVE — TIER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19456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>
                <a:solidFill>
                  <a:srgbClr val="EB1700"/>
                </a:solidFill>
                <a:latin typeface="Johnson Text"/>
              </a:rPr>
              <a:t>– </a:t>
            </a:r>
            <a:r>
              <a:rPr sz="900">
                <a:solidFill>
                  <a:srgbClr val="000000"/>
                </a:solidFill>
                <a:latin typeface="Johnson Text"/>
              </a:rPr>
              <a:t>Portfolio-level decision queue</a:t>
            </a:r>
          </a:p>
          <a:p>
            <a:pPr algn="l">
              <a:spcAft>
                <a:spcPts val="600"/>
              </a:spcAft>
            </a:pPr>
            <a:r>
              <a:rPr sz="900" b="1">
                <a:solidFill>
                  <a:srgbClr val="EB1700"/>
                </a:solidFill>
                <a:latin typeface="Johnson Text"/>
              </a:rPr>
              <a:t>– </a:t>
            </a:r>
            <a:r>
              <a:rPr sz="900">
                <a:solidFill>
                  <a:srgbClr val="000000"/>
                </a:solidFill>
                <a:latin typeface="Johnson Text"/>
              </a:rPr>
              <a:t>Process enhancement recommendations</a:t>
            </a:r>
          </a:p>
          <a:p>
            <a:pPr algn="l">
              <a:spcAft>
                <a:spcPts val="600"/>
              </a:spcAft>
            </a:pPr>
            <a:r>
              <a:rPr sz="900" b="1">
                <a:solidFill>
                  <a:srgbClr val="EB1700"/>
                </a:solidFill>
                <a:latin typeface="Johnson Text"/>
              </a:rPr>
              <a:t>– </a:t>
            </a:r>
            <a:r>
              <a:rPr sz="900">
                <a:solidFill>
                  <a:srgbClr val="000000"/>
                </a:solidFill>
                <a:latin typeface="Johnson Text"/>
              </a:rPr>
              <a:t>Cross-site comparability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77295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39992"/>
                </a:solidFill>
                <a:latin typeface="Johnson Display"/>
              </a:rPr>
              <a:t>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39992"/>
                </a:solidFill>
                <a:latin typeface="Johnson Text"/>
              </a:rPr>
              <a:t>J&amp;J Innovative Medicine — LVV Raritan | TierPulse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B1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Johnson Display"/>
              </a:defRPr>
            </a:pPr>
            <a:r>
              <a:t>Next Steps &amp; 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E6159"/>
                </a:solidFill>
                <a:latin typeface="Johnson Text"/>
              </a:rPr>
              <a:t>│ Concrete actions to scale TierPulse from pilot to enterprise capability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B1700"/>
                </a:solidFill>
                <a:latin typeface="Johnson Text"/>
              </a:rPr>
              <a:t>▸ </a:t>
            </a:r>
            <a:r>
              <a:rPr sz="1400" b="1">
                <a:solidFill>
                  <a:srgbClr val="000000"/>
                </a:solidFill>
                <a:latin typeface="Johnson Text"/>
              </a:rPr>
              <a:t>Ask 1: </a:t>
            </a:r>
            <a:r>
              <a:rPr sz="1400">
                <a:solidFill>
                  <a:srgbClr val="000000"/>
                </a:solidFill>
                <a:latin typeface="Johnson Text"/>
              </a:rPr>
              <a:t>Evaluate further data enrichment via Databricks / COMET connection for automated signal generation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EB1700"/>
                </a:solidFill>
                <a:latin typeface="Johnson Text"/>
              </a:rPr>
              <a:t>▸ </a:t>
            </a:r>
            <a:r>
              <a:rPr sz="1400" b="1">
                <a:solidFill>
                  <a:srgbClr val="000000"/>
                </a:solidFill>
                <a:latin typeface="Johnson Text"/>
              </a:rPr>
              <a:t>Ask 2: </a:t>
            </a:r>
            <a:r>
              <a:rPr sz="1400">
                <a:solidFill>
                  <a:srgbClr val="000000"/>
                </a:solidFill>
                <a:latin typeface="Johnson Text"/>
              </a:rPr>
              <a:t>Pilot Tier 3 roll-up board — monthly leadership cadence with decision queue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EB1700"/>
                </a:solidFill>
                <a:latin typeface="Johnson Text"/>
              </a:rPr>
              <a:t>▸ </a:t>
            </a:r>
            <a:r>
              <a:rPr sz="1400" b="1">
                <a:solidFill>
                  <a:srgbClr val="000000"/>
                </a:solidFill>
                <a:latin typeface="Johnson Text"/>
              </a:rPr>
              <a:t>Ask 3: </a:t>
            </a:r>
            <a:r>
              <a:rPr sz="1400">
                <a:solidFill>
                  <a:srgbClr val="000000"/>
                </a:solidFill>
                <a:latin typeface="Johnson Text"/>
              </a:rPr>
              <a:t>Approve replication approach — site configuration layer to Sassenheim and beyond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EB1700"/>
                </a:solidFill>
                <a:latin typeface="Johnson Text"/>
              </a:rPr>
              <a:t>▸ </a:t>
            </a:r>
            <a:r>
              <a:rPr sz="1400" b="1">
                <a:solidFill>
                  <a:srgbClr val="000000"/>
                </a:solidFill>
                <a:latin typeface="Johnson Text"/>
              </a:rPr>
              <a:t>Ask 4: </a:t>
            </a:r>
            <a:r>
              <a:rPr sz="1400">
                <a:solidFill>
                  <a:srgbClr val="000000"/>
                </a:solidFill>
                <a:latin typeface="Johnson Text"/>
              </a:rPr>
              <a:t>Establish data quality guardrails — minimum standard + ownership accountability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5029200"/>
            <a:ext cx="9144000" cy="640080"/>
          </a:xfrm>
          <a:prstGeom prst="rect">
            <a:avLst/>
          </a:prstGeom>
          <a:solidFill>
            <a:srgbClr val="F1E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5029200"/>
            <a:ext cx="36576" cy="640080"/>
          </a:xfrm>
          <a:prstGeom prst="rect">
            <a:avLst/>
          </a:prstGeom>
          <a:solidFill>
            <a:srgbClr val="C4BD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120640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0000"/>
                </a:solidFill>
                <a:latin typeface="Johnson Text"/>
              </a:rPr>
              <a:t>Parking lot: </a:t>
            </a:r>
            <a:r>
              <a:rPr sz="1100">
                <a:solidFill>
                  <a:srgbClr val="6E6159"/>
                </a:solidFill>
                <a:latin typeface="Johnson Text"/>
              </a:rPr>
              <a:t>Metric catalog, meeting standards, source-system mapping, and FAQ documented in appendix.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39992"/>
                </a:solidFill>
                <a:latin typeface="Johnson Display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39992"/>
                </a:solidFill>
                <a:latin typeface="Johnson Text"/>
              </a:rPr>
              <a:t>J&amp;J Innovative Medicine — LVV Raritan | TierPulse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B1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9144000" cy="4754880"/>
          </a:xfrm>
          <a:prstGeom prst="rect">
            <a:avLst/>
          </a:prstGeom>
          <a:solidFill>
            <a:srgbClr val="F1E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9144000" cy="45720"/>
          </a:xfrm>
          <a:prstGeom prst="rect">
            <a:avLst/>
          </a:prstGeom>
          <a:solidFill>
            <a:srgbClr val="EB1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Johnson Display"/>
              </a:defRPr>
            </a:pPr>
            <a:r>
              <a:t>Why This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B1700"/>
                </a:solidFill>
                <a:latin typeface="Johnson Text"/>
              </a:rPr>
              <a:t>▸ </a:t>
            </a:r>
            <a:r>
              <a:rPr sz="1300">
                <a:solidFill>
                  <a:srgbClr val="000000"/>
                </a:solidFill>
                <a:latin typeface="Johnson Text"/>
              </a:rPr>
              <a:t>TierPulse operationalizes data operating theory — not dashboards, but decision infrastructure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EB1700"/>
                </a:solidFill>
                <a:latin typeface="Johnson Text"/>
              </a:rPr>
              <a:t>▸ </a:t>
            </a:r>
            <a:r>
              <a:rPr sz="1300">
                <a:solidFill>
                  <a:srgbClr val="000000"/>
                </a:solidFill>
                <a:latin typeface="Johnson Text"/>
              </a:rPr>
              <a:t>Governed metric capture replaces manual pulls with automated, auditable signals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EB1700"/>
                </a:solidFill>
                <a:latin typeface="Johnson Text"/>
              </a:rPr>
              <a:t>▸ </a:t>
            </a:r>
            <a:r>
              <a:rPr sz="1300">
                <a:solidFill>
                  <a:srgbClr val="000000"/>
                </a:solidFill>
                <a:latin typeface="Johnson Text"/>
              </a:rPr>
              <a:t>Structured escalation drives accountability at every tier level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EB1700"/>
                </a:solidFill>
                <a:latin typeface="Johnson Text"/>
              </a:rPr>
              <a:t>▸ </a:t>
            </a:r>
            <a:r>
              <a:rPr sz="1300">
                <a:solidFill>
                  <a:srgbClr val="000000"/>
                </a:solidFill>
                <a:latin typeface="Johnson Text"/>
              </a:rPr>
              <a:t>Transferable design enables replication across LVV sites and beyond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EB1700"/>
                </a:solidFill>
                <a:latin typeface="Johnson Text"/>
              </a:rPr>
              <a:t>▸ </a:t>
            </a:r>
            <a:r>
              <a:rPr sz="1300">
                <a:solidFill>
                  <a:srgbClr val="000000"/>
                </a:solidFill>
                <a:latin typeface="Johnson Text"/>
              </a:rPr>
              <a:t>Tier 3 prescriptive roadmap positions leadership for portfolio-level decision-making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5720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B1700"/>
                </a:solidFill>
                <a:latin typeface="Johnson Display"/>
              </a:rPr>
              <a:t>Data operating theory becomes real at the point where operational decisions are made.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39992"/>
                </a:solidFill>
                <a:latin typeface="Johnson Display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